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embeddedFontLst>
    <p:embeddedFont>
      <p:font typeface="Maven Pro" pitchFamily="2" charset="77"/>
      <p:regular r:id="rId9"/>
      <p:bold r:id="rId10"/>
    </p:embeddedFont>
    <p:embeddedFont>
      <p:font typeface="Nunito" pitchFamily="2" charset="77"/>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8"/>
  </p:normalViewPr>
  <p:slideViewPr>
    <p:cSldViewPr snapToGrid="0">
      <p:cViewPr varScale="1">
        <p:scale>
          <a:sx n="145" d="100"/>
          <a:sy n="145" d="100"/>
        </p:scale>
        <p:origin x="58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a3bde5ec0d_0_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a3bde5ec0d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a469fe02c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a469fe02c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a3bde5ec0d_0_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a3bde5ec0d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a469fe02c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a469fe02c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90ec5b4f9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90ec5b4f9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a:t>Earthquake &amp; Tsunami Risk Evaluation</a:t>
            </a:r>
            <a:endParaRPr/>
          </a:p>
        </p:txBody>
      </p:sp>
      <p:sp>
        <p:nvSpPr>
          <p:cNvPr id="278" name="Google Shape;278;p13"/>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By Keira Fludd, Jedidah Njoroge and Sulaiman Turey Mathew-Wilson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Data Selection &amp; Introduction</a:t>
            </a:r>
            <a:endParaRPr/>
          </a:p>
        </p:txBody>
      </p:sp>
      <p:sp>
        <p:nvSpPr>
          <p:cNvPr id="284" name="Google Shape;284;p1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GB" sz="1500">
                <a:latin typeface="Arial"/>
                <a:ea typeface="Arial"/>
                <a:cs typeface="Arial"/>
                <a:sym typeface="Arial"/>
              </a:rPr>
              <a:t>This data was extracted from a kaggle dataset named Global Earthquake-Tsunami Risk Assessment Dataset.  It contains over 700 recorded earthquakes varying between the richter magnitude scale of 6.5 to 9.0. This data also recorded if certain earthquakes caused tsunamis. There was over 478 tsunamis recorded and around 300 that could have potentially happened. This data was collected between January 2001 and December 2022 and contains no missing values and is 100% completed. Overall this data set is used for tsunami risk prediction, early warning systems, hazard markings and magnitude estimation. </a:t>
            </a:r>
            <a:endParaRPr sz="15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Data Wrangling</a:t>
            </a:r>
            <a:endParaRPr/>
          </a:p>
        </p:txBody>
      </p:sp>
      <p:sp>
        <p:nvSpPr>
          <p:cNvPr id="290" name="Google Shape;290;p15"/>
          <p:cNvSpPr txBox="1">
            <a:spLocks noGrp="1"/>
          </p:cNvSpPr>
          <p:nvPr>
            <p:ph type="body" idx="1"/>
          </p:nvPr>
        </p:nvSpPr>
        <p:spPr>
          <a:xfrm>
            <a:off x="0" y="1597875"/>
            <a:ext cx="5450100" cy="2850000"/>
          </a:xfrm>
          <a:prstGeom prst="rect">
            <a:avLst/>
          </a:prstGeom>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GB" sz="1400" b="1"/>
              <a:t>Cleaning: </a:t>
            </a:r>
            <a:r>
              <a:rPr lang="en-GB" sz="1400"/>
              <a:t>data had no missing or duplicate values</a:t>
            </a:r>
            <a:endParaRPr sz="1400"/>
          </a:p>
          <a:p>
            <a:pPr marL="457200" lvl="0" indent="-317500" algn="l" rtl="0">
              <a:spcBef>
                <a:spcPts val="0"/>
              </a:spcBef>
              <a:spcAft>
                <a:spcPts val="0"/>
              </a:spcAft>
              <a:buSzPts val="1400"/>
              <a:buChar char="●"/>
            </a:pPr>
            <a:r>
              <a:rPr lang="en-GB" sz="1400" b="1"/>
              <a:t>Structuring:</a:t>
            </a:r>
            <a:r>
              <a:rPr lang="en-GB" sz="1400"/>
              <a:t> no need to reorganize data into new format, all data types were consistent and formats were standardized</a:t>
            </a:r>
            <a:endParaRPr sz="1400"/>
          </a:p>
          <a:p>
            <a:pPr marL="457200" lvl="0" indent="-317500" algn="l" rtl="0">
              <a:spcBef>
                <a:spcPts val="0"/>
              </a:spcBef>
              <a:spcAft>
                <a:spcPts val="0"/>
              </a:spcAft>
              <a:buSzPts val="1400"/>
              <a:buChar char="●"/>
            </a:pPr>
            <a:r>
              <a:rPr lang="en-GB" sz="1400" b="1"/>
              <a:t>Column Guide:</a:t>
            </a:r>
            <a:endParaRPr sz="1400" b="1"/>
          </a:p>
          <a:p>
            <a:pPr marL="914400" lvl="1" indent="-304800" algn="l" rtl="0">
              <a:spcBef>
                <a:spcPts val="0"/>
              </a:spcBef>
              <a:spcAft>
                <a:spcPts val="0"/>
              </a:spcAft>
              <a:buSzPts val="1200"/>
              <a:buChar char="○"/>
            </a:pPr>
            <a:r>
              <a:rPr lang="en-GB" sz="1200"/>
              <a:t>cdi = Community Decimal Intensity (the felt intensity) from 0 - 9</a:t>
            </a:r>
            <a:endParaRPr sz="1200"/>
          </a:p>
          <a:p>
            <a:pPr marL="914400" lvl="1" indent="-304800" algn="l" rtl="0">
              <a:spcBef>
                <a:spcPts val="0"/>
              </a:spcBef>
              <a:spcAft>
                <a:spcPts val="0"/>
              </a:spcAft>
              <a:buSzPts val="1200"/>
              <a:buChar char="○"/>
            </a:pPr>
            <a:r>
              <a:rPr lang="en-GB" sz="1200"/>
              <a:t>mmi = Modified Mercalli Intensity, ranging from 1 - 9</a:t>
            </a:r>
            <a:endParaRPr sz="1200"/>
          </a:p>
          <a:p>
            <a:pPr marL="914400" lvl="1" indent="-304800" algn="l" rtl="0">
              <a:spcBef>
                <a:spcPts val="0"/>
              </a:spcBef>
              <a:spcAft>
                <a:spcPts val="0"/>
              </a:spcAft>
              <a:buSzPts val="1200"/>
              <a:buChar char="○"/>
            </a:pPr>
            <a:r>
              <a:rPr lang="en-GB" sz="1200"/>
              <a:t>sig = Event significance score from 650 - 2910 </a:t>
            </a:r>
            <a:endParaRPr sz="1200"/>
          </a:p>
          <a:p>
            <a:pPr marL="914400" lvl="1" indent="-304800" algn="l" rtl="0">
              <a:spcBef>
                <a:spcPts val="0"/>
              </a:spcBef>
              <a:spcAft>
                <a:spcPts val="0"/>
              </a:spcAft>
              <a:buSzPts val="1200"/>
              <a:buChar char="○"/>
            </a:pPr>
            <a:r>
              <a:rPr lang="en-GB" sz="1200"/>
              <a:t>nst = Number of seismic monitoring stations from 0 - 934</a:t>
            </a:r>
            <a:endParaRPr sz="1200"/>
          </a:p>
          <a:p>
            <a:pPr marL="914400" lvl="1" indent="-304800" algn="l" rtl="0">
              <a:spcBef>
                <a:spcPts val="0"/>
              </a:spcBef>
              <a:spcAft>
                <a:spcPts val="0"/>
              </a:spcAft>
              <a:buSzPts val="1200"/>
              <a:buChar char="○"/>
            </a:pPr>
            <a:r>
              <a:rPr lang="en-GB" sz="1200"/>
              <a:t>dmin = Distance to nearest seismic station 0.0 - 17.7</a:t>
            </a:r>
            <a:endParaRPr sz="1200"/>
          </a:p>
        </p:txBody>
      </p:sp>
      <p:pic>
        <p:nvPicPr>
          <p:cNvPr id="291" name="Google Shape;291;p15" title="Bplot_Fare_surv.jpg"/>
          <p:cNvPicPr preferRelativeResize="0"/>
          <p:nvPr/>
        </p:nvPicPr>
        <p:blipFill>
          <a:blip r:embed="rId3">
            <a:alphaModFix/>
          </a:blip>
          <a:stretch>
            <a:fillRect/>
          </a:stretch>
        </p:blipFill>
        <p:spPr>
          <a:xfrm>
            <a:off x="5510625" y="2418475"/>
            <a:ext cx="3633376" cy="27250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Earthquake Analysis </a:t>
            </a:r>
            <a:endParaRPr/>
          </a:p>
          <a:p>
            <a:pPr marL="0" lvl="0" indent="0" algn="l" rtl="0">
              <a:spcBef>
                <a:spcPts val="0"/>
              </a:spcBef>
              <a:spcAft>
                <a:spcPts val="0"/>
              </a:spcAft>
              <a:buNone/>
            </a:pPr>
            <a:r>
              <a:rPr lang="en-GB"/>
              <a:t>(Physical Damage) </a:t>
            </a:r>
            <a:endParaRPr/>
          </a:p>
        </p:txBody>
      </p:sp>
      <p:sp>
        <p:nvSpPr>
          <p:cNvPr id="297" name="Google Shape;297;p16"/>
          <p:cNvSpPr txBox="1">
            <a:spLocks noGrp="1"/>
          </p:cNvSpPr>
          <p:nvPr>
            <p:ph type="body" idx="1"/>
          </p:nvPr>
        </p:nvSpPr>
        <p:spPr>
          <a:xfrm>
            <a:off x="1101025" y="1875625"/>
            <a:ext cx="7233300" cy="11136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1200"/>
              </a:spcAft>
              <a:buNone/>
            </a:pPr>
            <a:r>
              <a:rPr lang="en-GB"/>
              <a:t>These three graphs examine the relationship between physical destruction and various types of earthquakes. Some factors, like depth and magnitude, can influence the severity of destruction as some earthquakes that happen at higher depths but have low magnitudes can cause more destruction, Some of the earthquakes demonstrated extremely high magnitudes, they occurred at low depths.</a:t>
            </a:r>
            <a:endParaRPr/>
          </a:p>
        </p:txBody>
      </p:sp>
      <p:pic>
        <p:nvPicPr>
          <p:cNvPr id="298" name="Google Shape;298;p16" title="Avg_Depth.jpg"/>
          <p:cNvPicPr preferRelativeResize="0"/>
          <p:nvPr/>
        </p:nvPicPr>
        <p:blipFill>
          <a:blip r:embed="rId3">
            <a:alphaModFix/>
          </a:blip>
          <a:stretch>
            <a:fillRect/>
          </a:stretch>
        </p:blipFill>
        <p:spPr>
          <a:xfrm>
            <a:off x="0" y="2785025"/>
            <a:ext cx="3496950" cy="2331300"/>
          </a:xfrm>
          <a:prstGeom prst="rect">
            <a:avLst/>
          </a:prstGeom>
          <a:noFill/>
          <a:ln>
            <a:noFill/>
          </a:ln>
        </p:spPr>
      </p:pic>
      <p:pic>
        <p:nvPicPr>
          <p:cNvPr id="299" name="Google Shape;299;p16" title="EQ_Dist.jpg"/>
          <p:cNvPicPr preferRelativeResize="0"/>
          <p:nvPr/>
        </p:nvPicPr>
        <p:blipFill>
          <a:blip r:embed="rId4">
            <a:alphaModFix/>
          </a:blip>
          <a:stretch>
            <a:fillRect/>
          </a:stretch>
        </p:blipFill>
        <p:spPr>
          <a:xfrm>
            <a:off x="5282450" y="3294150"/>
            <a:ext cx="3698700" cy="1849350"/>
          </a:xfrm>
          <a:prstGeom prst="rect">
            <a:avLst/>
          </a:prstGeom>
          <a:noFill/>
          <a:ln>
            <a:noFill/>
          </a:ln>
        </p:spPr>
      </p:pic>
      <p:pic>
        <p:nvPicPr>
          <p:cNvPr id="300" name="Google Shape;300;p16" title="scatplot.jpg"/>
          <p:cNvPicPr preferRelativeResize="0"/>
          <p:nvPr/>
        </p:nvPicPr>
        <p:blipFill>
          <a:blip r:embed="rId5">
            <a:alphaModFix/>
          </a:blip>
          <a:stretch>
            <a:fillRect/>
          </a:stretch>
        </p:blipFill>
        <p:spPr>
          <a:xfrm>
            <a:off x="6022186" y="140700"/>
            <a:ext cx="2958964" cy="1849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32075" y="0"/>
            <a:ext cx="7030500" cy="480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Overall Insight</a:t>
            </a:r>
            <a:endParaRPr/>
          </a:p>
        </p:txBody>
      </p:sp>
      <p:pic>
        <p:nvPicPr>
          <p:cNvPr id="306" name="Google Shape;306;p17" title="Correlation heat map.png"/>
          <p:cNvPicPr preferRelativeResize="0"/>
          <p:nvPr/>
        </p:nvPicPr>
        <p:blipFill>
          <a:blip r:embed="rId3">
            <a:alphaModFix/>
          </a:blip>
          <a:stretch>
            <a:fillRect/>
          </a:stretch>
        </p:blipFill>
        <p:spPr>
          <a:xfrm>
            <a:off x="3789550" y="405800"/>
            <a:ext cx="5354449" cy="4615976"/>
          </a:xfrm>
          <a:prstGeom prst="rect">
            <a:avLst/>
          </a:prstGeom>
          <a:noFill/>
          <a:ln>
            <a:noFill/>
          </a:ln>
        </p:spPr>
      </p:pic>
      <p:sp>
        <p:nvSpPr>
          <p:cNvPr id="307" name="Google Shape;307;p17"/>
          <p:cNvSpPr txBox="1"/>
          <p:nvPr/>
        </p:nvSpPr>
        <p:spPr>
          <a:xfrm>
            <a:off x="0" y="1324950"/>
            <a:ext cx="3964800" cy="3324600"/>
          </a:xfrm>
          <a:prstGeom prst="rect">
            <a:avLst/>
          </a:prstGeom>
          <a:noFill/>
          <a:ln>
            <a:noFill/>
          </a:ln>
        </p:spPr>
        <p:txBody>
          <a:bodyPr spcFirstLastPara="1" wrap="square" lIns="91425" tIns="91425" rIns="91425" bIns="91425" anchor="t" anchorCtr="0">
            <a:spAutoFit/>
          </a:bodyPr>
          <a:lstStyle/>
          <a:p>
            <a:pPr marL="457200" lvl="0" indent="-336550" algn="l" rtl="0">
              <a:spcBef>
                <a:spcPts val="0"/>
              </a:spcBef>
              <a:spcAft>
                <a:spcPts val="0"/>
              </a:spcAft>
              <a:buClr>
                <a:schemeClr val="dk2"/>
              </a:buClr>
              <a:buSzPts val="1700"/>
              <a:buFont typeface="Nunito"/>
              <a:buChar char="●"/>
            </a:pPr>
            <a:r>
              <a:rPr lang="en-GB" sz="1700">
                <a:solidFill>
                  <a:schemeClr val="dk2"/>
                </a:solidFill>
                <a:latin typeface="Nunito"/>
                <a:ea typeface="Nunito"/>
                <a:cs typeface="Nunito"/>
                <a:sym typeface="Nunito"/>
              </a:rPr>
              <a:t>Overall, there is no simple or single variable that directly predicts tsunami occurrence. A tsunami is not triggered by a single dominant factor but more so of an interaction of multiple conditions. Physical parameters such as magnitude, depth, and geographical coordinates such as latitude and longitude exhibit correlations that are either zero or weak.</a:t>
            </a:r>
            <a:endParaRPr sz="1600">
              <a:solidFill>
                <a:schemeClr val="dk2"/>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8"/>
          <p:cNvSpPr txBox="1">
            <a:spLocks noGrp="1"/>
          </p:cNvSpPr>
          <p:nvPr>
            <p:ph type="title"/>
          </p:nvPr>
        </p:nvSpPr>
        <p:spPr>
          <a:xfrm>
            <a:off x="1388625" y="772725"/>
            <a:ext cx="6366900" cy="18633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a:t>Thank You</a:t>
            </a:r>
            <a:endParaRPr/>
          </a:p>
        </p:txBody>
      </p:sp>
      <p:sp>
        <p:nvSpPr>
          <p:cNvPr id="313" name="Google Shape;313;p18"/>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endParaRPr/>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338</Words>
  <Application>Microsoft Macintosh PowerPoint</Application>
  <PresentationFormat>On-screen Show (16:9)</PresentationFormat>
  <Paragraphs>19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Maven Pro</vt:lpstr>
      <vt:lpstr>Nunito</vt:lpstr>
      <vt:lpstr>Arial</vt:lpstr>
      <vt:lpstr>Momentum</vt:lpstr>
      <vt:lpstr>Earthquake &amp; Tsunami Risk Evaluation</vt:lpstr>
      <vt:lpstr>Data Selection &amp; Introduction</vt:lpstr>
      <vt:lpstr>Data Wrangling</vt:lpstr>
      <vt:lpstr>Earthquake Analysis  (Physical Damage) </vt:lpstr>
      <vt:lpstr>Overall Insight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Mathew-Wilson, Sulaiman</cp:lastModifiedBy>
  <cp:revision>1</cp:revision>
  <dcterms:modified xsi:type="dcterms:W3CDTF">2025-11-17T22:29:33Z</dcterms:modified>
</cp:coreProperties>
</file>